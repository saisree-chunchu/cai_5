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4"/>
  </p:notesMasterIdLst>
  <p:sldIdLst>
    <p:sldId id="256" r:id="rId2"/>
    <p:sldId id="269" r:id="rId3"/>
    <p:sldId id="257" r:id="rId4"/>
    <p:sldId id="274" r:id="rId5"/>
    <p:sldId id="275" r:id="rId6"/>
    <p:sldId id="273" r:id="rId7"/>
    <p:sldId id="272" r:id="rId8"/>
    <p:sldId id="271" r:id="rId9"/>
    <p:sldId id="268" r:id="rId10"/>
    <p:sldId id="270" r:id="rId11"/>
    <p:sldId id="265" r:id="rId12"/>
    <p:sldId id="266" r:id="rId1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1" d="100"/>
          <a:sy n="91" d="100"/>
        </p:scale>
        <p:origin x="341"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552911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832441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4939560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248305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0436789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5942109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667165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2155935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8124313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txBody>
          <a:bodyPr/>
          <a:lstStyle/>
          <a:p>
            <a:endParaRPr lang="en-IN"/>
          </a:p>
        </p:txBody>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github.com/saisree-chunchu/CAI_5"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lvl="0" algn="ctr"/>
            <a:r>
              <a:rPr lang="en-US" sz="2400" dirty="0">
                <a:solidFill>
                  <a:schemeClr val="tx1"/>
                </a:solidFill>
                <a:latin typeface="Times New Roman" panose="02020603050405020304" pitchFamily="18" charset="0"/>
                <a:ea typeface="Cambria" panose="02040503050406030204" pitchFamily="18" charset="0"/>
                <a:cs typeface="Times New Roman" panose="02020603050405020304" pitchFamily="18" charset="0"/>
              </a:rPr>
              <a:t>Optical-Guided Super-Resolution for Thermal IR Imagery</a:t>
            </a:r>
            <a:endParaRPr sz="2400" dirty="0">
              <a:solidFill>
                <a:schemeClr val="tx1"/>
              </a:solidFill>
              <a:latin typeface="Times New Roman" panose="02020603050405020304" pitchFamily="18" charset="0"/>
              <a:ea typeface="Cambria" panose="02040503050406030204" pitchFamily="18" charset="0"/>
              <a:cs typeface="Times New Roman" panose="02020603050405020304" pitchFamily="18" charset="0"/>
            </a:endParaRP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dirty="0">
                <a:latin typeface="Times New Roman" panose="02020603050405020304" pitchFamily="18" charset="0"/>
                <a:ea typeface="Cambria" panose="02040503050406030204" pitchFamily="18" charset="0"/>
                <a:cs typeface="Times New Roman" panose="02020603050405020304" pitchFamily="18" charset="0"/>
              </a:rPr>
              <a:t>Batch Number: CAI_5</a:t>
            </a:r>
            <a:endParaRPr dirty="0">
              <a:latin typeface="Times New Roman" panose="02020603050405020304" pitchFamily="18" charset="0"/>
              <a:ea typeface="Cambria" panose="02040503050406030204" pitchFamily="18" charset="0"/>
              <a:cs typeface="Times New Roman" panose="02020603050405020304" pitchFamily="18" charset="0"/>
            </a:endParaRPr>
          </a:p>
        </p:txBody>
      </p:sp>
      <p:sp>
        <p:nvSpPr>
          <p:cNvPr id="90"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fontScale="62500" lnSpcReduction="20000"/>
          </a:bodyPr>
          <a:lstStyle/>
          <a:p>
            <a:pPr marL="0" marR="0" lvl="0" indent="0" algn="ctr" rtl="0">
              <a:spcBef>
                <a:spcPts val="0"/>
              </a:spcBef>
              <a:spcAft>
                <a:spcPts val="0"/>
              </a:spcAft>
              <a:buClr>
                <a:srgbClr val="17365D"/>
              </a:buClr>
              <a:buSzPts val="2000"/>
              <a:buFont typeface="Arial"/>
              <a:buNone/>
            </a:pPr>
            <a:r>
              <a:rPr lang="en-GB" sz="3200" b="1" i="0" u="none" strike="noStrike" cap="none" dirty="0">
                <a:solidFill>
                  <a:srgbClr val="17365D"/>
                </a:solidFill>
                <a:latin typeface="Times New Roman" panose="02020603050405020304" pitchFamily="18" charset="0"/>
                <a:ea typeface="Cambria" panose="02040503050406030204" pitchFamily="18" charset="0"/>
                <a:cs typeface="Times New Roman" panose="02020603050405020304" pitchFamily="18" charset="0"/>
                <a:sym typeface="Verdana"/>
              </a:rPr>
              <a:t>Under the Supervision of,</a:t>
            </a:r>
            <a:endParaRPr sz="3200" dirty="0">
              <a:latin typeface="Times New Roman" panose="02020603050405020304" pitchFamily="18" charset="0"/>
              <a:ea typeface="Cambria" panose="02040503050406030204" pitchFamily="18" charset="0"/>
              <a:cs typeface="Times New Roman" panose="02020603050405020304" pitchFamily="18" charset="0"/>
            </a:endParaRPr>
          </a:p>
          <a:p>
            <a:pPr marL="0" marR="0" lvl="0" indent="0" algn="ctr" rtl="0">
              <a:spcBef>
                <a:spcPts val="400"/>
              </a:spcBef>
              <a:spcAft>
                <a:spcPts val="0"/>
              </a:spcAft>
              <a:buClr>
                <a:srgbClr val="17365D"/>
              </a:buClr>
              <a:buSzPts val="2000"/>
              <a:buFont typeface="Arial"/>
              <a:buNone/>
            </a:pPr>
            <a:endParaRPr sz="3200" b="1" i="0" u="none" strike="noStrike" cap="none" dirty="0">
              <a:solidFill>
                <a:srgbClr val="17365D"/>
              </a:solidFill>
              <a:latin typeface="Times New Roman" panose="02020603050405020304" pitchFamily="18" charset="0"/>
              <a:ea typeface="Cambria" panose="02040503050406030204" pitchFamily="18" charset="0"/>
              <a:cs typeface="Times New Roman" panose="02020603050405020304" pitchFamily="18" charset="0"/>
              <a:sym typeface="Verdana"/>
            </a:endParaRPr>
          </a:p>
          <a:p>
            <a:pPr marL="0" marR="0" lvl="0" indent="0" algn="l" rtl="0">
              <a:spcBef>
                <a:spcPts val="340"/>
              </a:spcBef>
              <a:spcAft>
                <a:spcPts val="0"/>
              </a:spcAft>
              <a:buClr>
                <a:srgbClr val="17365D"/>
              </a:buClr>
              <a:buSzPts val="1700"/>
              <a:buFont typeface="Arial"/>
              <a:buNone/>
            </a:pPr>
            <a:r>
              <a:rPr lang="en-GB" sz="3200" b="1" i="0" u="none" strike="noStrike" cap="none" dirty="0">
                <a:solidFill>
                  <a:srgbClr val="17365D"/>
                </a:solidFill>
                <a:latin typeface="Times New Roman" panose="02020603050405020304" pitchFamily="18" charset="0"/>
                <a:ea typeface="Cambria" panose="02040503050406030204" pitchFamily="18" charset="0"/>
                <a:cs typeface="Times New Roman" panose="02020603050405020304" pitchFamily="18" charset="0"/>
                <a:sym typeface="Verdana"/>
              </a:rPr>
              <a:t> Dr. </a:t>
            </a:r>
            <a:r>
              <a:rPr lang="en-GB" sz="3200" b="1" dirty="0">
                <a:solidFill>
                  <a:srgbClr val="17365D"/>
                </a:solidFill>
                <a:latin typeface="Times New Roman" panose="02020603050405020304" pitchFamily="18" charset="0"/>
                <a:ea typeface="Cambria" panose="02040503050406030204" pitchFamily="18" charset="0"/>
                <a:cs typeface="Times New Roman" panose="02020603050405020304" pitchFamily="18" charset="0"/>
                <a:sym typeface="Verdana"/>
              </a:rPr>
              <a:t>Yamanappa </a:t>
            </a:r>
            <a:endParaRPr sz="3200" dirty="0">
              <a:latin typeface="Times New Roman" panose="02020603050405020304" pitchFamily="18" charset="0"/>
              <a:ea typeface="Cambria" panose="02040503050406030204" pitchFamily="18" charset="0"/>
              <a:cs typeface="Times New Roman" panose="02020603050405020304" pitchFamily="18" charset="0"/>
            </a:endParaRPr>
          </a:p>
          <a:p>
            <a:pPr marL="0" marR="0" lvl="0" indent="0" algn="l" rtl="0">
              <a:spcBef>
                <a:spcPts val="340"/>
              </a:spcBef>
              <a:spcAft>
                <a:spcPts val="0"/>
              </a:spcAft>
              <a:buClr>
                <a:srgbClr val="17365D"/>
              </a:buClr>
              <a:buSzPts val="1700"/>
              <a:buFont typeface="Arial"/>
              <a:buNone/>
            </a:pPr>
            <a:r>
              <a:rPr lang="en-GB" sz="3200" b="1" i="0" u="none" strike="noStrike" cap="none" dirty="0">
                <a:solidFill>
                  <a:srgbClr val="17365D"/>
                </a:solidFill>
                <a:latin typeface="Times New Roman" panose="02020603050405020304" pitchFamily="18" charset="0"/>
                <a:ea typeface="Cambria" panose="02040503050406030204" pitchFamily="18" charset="0"/>
                <a:cs typeface="Times New Roman" panose="02020603050405020304" pitchFamily="18" charset="0"/>
                <a:sym typeface="Verdana"/>
              </a:rPr>
              <a:t> Assistant Professor</a:t>
            </a:r>
            <a:endParaRPr sz="3200" dirty="0">
              <a:latin typeface="Times New Roman" panose="02020603050405020304" pitchFamily="18" charset="0"/>
              <a:ea typeface="Cambria" panose="02040503050406030204" pitchFamily="18" charset="0"/>
              <a:cs typeface="Times New Roman" panose="02020603050405020304" pitchFamily="18" charset="0"/>
            </a:endParaRPr>
          </a:p>
          <a:p>
            <a:pPr marL="0" marR="0" lvl="0" indent="0" algn="l" rtl="0">
              <a:spcBef>
                <a:spcPts val="340"/>
              </a:spcBef>
              <a:spcAft>
                <a:spcPts val="0"/>
              </a:spcAft>
              <a:buClr>
                <a:srgbClr val="17365D"/>
              </a:buClr>
              <a:buSzPts val="1700"/>
              <a:buFont typeface="Arial"/>
              <a:buNone/>
            </a:pPr>
            <a:r>
              <a:rPr lang="en-GB" sz="3200" b="1" i="0" u="none" strike="noStrike" cap="none" dirty="0">
                <a:solidFill>
                  <a:srgbClr val="17365D"/>
                </a:solidFill>
                <a:latin typeface="Times New Roman" panose="02020603050405020304" pitchFamily="18" charset="0"/>
                <a:ea typeface="Cambria" panose="02040503050406030204" pitchFamily="18" charset="0"/>
                <a:cs typeface="Times New Roman" panose="02020603050405020304" pitchFamily="18" charset="0"/>
                <a:sym typeface="Verdana"/>
              </a:rPr>
              <a:t> School of Computer Science and Engineering</a:t>
            </a:r>
            <a:endParaRPr sz="3200" dirty="0">
              <a:latin typeface="Times New Roman" panose="02020603050405020304" pitchFamily="18" charset="0"/>
              <a:ea typeface="Cambria" panose="02040503050406030204" pitchFamily="18" charset="0"/>
              <a:cs typeface="Times New Roman" panose="02020603050405020304" pitchFamily="18" charset="0"/>
            </a:endParaRPr>
          </a:p>
          <a:p>
            <a:pPr marL="0" marR="0" lvl="0" indent="0" algn="l" rtl="0">
              <a:spcBef>
                <a:spcPts val="340"/>
              </a:spcBef>
              <a:spcAft>
                <a:spcPts val="0"/>
              </a:spcAft>
              <a:buClr>
                <a:srgbClr val="17365D"/>
              </a:buClr>
              <a:buSzPts val="1700"/>
              <a:buFont typeface="Arial"/>
              <a:buNone/>
            </a:pPr>
            <a:r>
              <a:rPr lang="en-GB" sz="3200" b="1" i="0" u="none" strike="noStrike" cap="none" dirty="0">
                <a:solidFill>
                  <a:srgbClr val="17365D"/>
                </a:solidFill>
                <a:latin typeface="Times New Roman" panose="02020603050405020304" pitchFamily="18" charset="0"/>
                <a:ea typeface="Cambria" panose="02040503050406030204" pitchFamily="18" charset="0"/>
                <a:cs typeface="Times New Roman" panose="02020603050405020304" pitchFamily="18" charset="0"/>
                <a:sym typeface="Verdana"/>
              </a:rPr>
              <a:t> Presidency University</a:t>
            </a:r>
            <a:endParaRPr sz="3200" dirty="0">
              <a:latin typeface="Times New Roman" panose="02020603050405020304" pitchFamily="18" charset="0"/>
              <a:ea typeface="Cambria" panose="02040503050406030204" pitchFamily="18" charset="0"/>
              <a:cs typeface="Times New Roman" panose="020206030504050203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graphicFrame>
        <p:nvGraphicFramePr>
          <p:cNvPr id="89" name="Google Shape;89;p13"/>
          <p:cNvGraphicFramePr/>
          <p:nvPr>
            <p:extLst>
              <p:ext uri="{D42A27DB-BD31-4B8C-83A1-F6EECF244321}">
                <p14:modId xmlns:p14="http://schemas.microsoft.com/office/powerpoint/2010/main" val="17421032"/>
              </p:ext>
            </p:extLst>
          </p:nvPr>
        </p:nvGraphicFramePr>
        <p:xfrm>
          <a:off x="553347" y="2721840"/>
          <a:ext cx="5418675" cy="2316540"/>
        </p:xfrm>
        <a:graphic>
          <a:graphicData uri="http://schemas.openxmlformats.org/drawingml/2006/table">
            <a:tbl>
              <a:tblPr firstRow="1" bandRow="1">
                <a:noFill/>
                <a:tableStyleId>{57690726-49DA-4552-BDEB-330DD8EA8BD9}</a:tableStyleId>
              </a:tblPr>
              <a:tblGrid>
                <a:gridCol w="2085000">
                  <a:extLst>
                    <a:ext uri="{9D8B030D-6E8A-4147-A177-3AD203B41FA5}">
                      <a16:colId xmlns:a16="http://schemas.microsoft.com/office/drawing/2014/main" val="20000"/>
                    </a:ext>
                  </a:extLst>
                </a:gridCol>
                <a:gridCol w="3333675">
                  <a:extLst>
                    <a:ext uri="{9D8B030D-6E8A-4147-A177-3AD203B41FA5}">
                      <a16:colId xmlns:a16="http://schemas.microsoft.com/office/drawing/2014/main" val="20001"/>
                    </a:ext>
                  </a:extLst>
                </a:gridCol>
              </a:tblGrid>
              <a:tr h="306243">
                <a:tc>
                  <a:txBody>
                    <a:bodyPr/>
                    <a:lstStyle/>
                    <a:p>
                      <a:pPr marL="0" marR="0" lvl="1" indent="0" algn="ctr" rtl="0">
                        <a:spcBef>
                          <a:spcPts val="0"/>
                        </a:spcBef>
                        <a:spcAft>
                          <a:spcPts val="0"/>
                        </a:spcAft>
                        <a:buNone/>
                      </a:pPr>
                      <a:r>
                        <a:rPr lang="en-GB" sz="2000" b="1" u="none" strike="noStrike" cap="none" dirty="0">
                          <a:solidFill>
                            <a:srgbClr val="17365D"/>
                          </a:solidFill>
                          <a:latin typeface="Times New Roman" panose="02020603050405020304" pitchFamily="18" charset="0"/>
                          <a:cs typeface="Times New Roman" panose="02020603050405020304" pitchFamily="18" charset="0"/>
                        </a:rPr>
                        <a:t>Roll Number</a:t>
                      </a:r>
                      <a:endParaRPr sz="2000" b="1" u="none" strike="noStrike" cap="none" dirty="0">
                        <a:solidFill>
                          <a:srgbClr val="17365D"/>
                        </a:solidFill>
                        <a:latin typeface="Times New Roman" panose="02020603050405020304" pitchFamily="18" charset="0"/>
                        <a:cs typeface="Times New Roman" panose="020206030504050203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2000" b="1" u="none" strike="noStrike" cap="none" dirty="0">
                          <a:solidFill>
                            <a:srgbClr val="17365D"/>
                          </a:solidFill>
                          <a:latin typeface="Times New Roman" panose="02020603050405020304" pitchFamily="18" charset="0"/>
                          <a:cs typeface="Times New Roman" panose="02020603050405020304" pitchFamily="18" charset="0"/>
                        </a:rPr>
                        <a:t>Student Name</a:t>
                      </a:r>
                      <a:endParaRPr sz="2000" b="1" u="none" strike="noStrike" cap="none" dirty="0">
                        <a:solidFill>
                          <a:srgbClr val="17365D"/>
                        </a:solidFill>
                        <a:latin typeface="Times New Roman" panose="02020603050405020304" pitchFamily="18" charset="0"/>
                        <a:cs typeface="Times New Roman" panose="020206030504050203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306243">
                <a:tc>
                  <a:txBody>
                    <a:bodyPr/>
                    <a:lstStyle/>
                    <a:p>
                      <a:pPr marL="0" marR="0" lvl="0" indent="0" algn="ctr" rtl="0">
                        <a:spcBef>
                          <a:spcPts val="0"/>
                        </a:spcBef>
                        <a:spcAft>
                          <a:spcPts val="0"/>
                        </a:spcAft>
                        <a:buFont typeface="+mj-lt"/>
                        <a:buNone/>
                      </a:pPr>
                      <a:r>
                        <a:rPr lang="en-IN" sz="2000" u="none" strike="noStrike" cap="none" dirty="0">
                          <a:latin typeface="Times New Roman" panose="02020603050405020304" pitchFamily="18" charset="0"/>
                          <a:cs typeface="Times New Roman" panose="02020603050405020304" pitchFamily="18" charset="0"/>
                        </a:rPr>
                        <a:t>20221CAI0051</a:t>
                      </a:r>
                      <a:endParaRPr sz="2000" u="none" strike="noStrike" cap="none" dirty="0">
                        <a:latin typeface="Times New Roman" panose="02020603050405020304" pitchFamily="18" charset="0"/>
                        <a:cs typeface="Times New Roman" panose="020206030504050203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2000" u="none" strike="noStrike" cap="none" dirty="0">
                          <a:latin typeface="Times New Roman" panose="02020603050405020304" pitchFamily="18" charset="0"/>
                          <a:cs typeface="Times New Roman" panose="02020603050405020304" pitchFamily="18" charset="0"/>
                        </a:rPr>
                        <a:t>Chunchu Saisree </a:t>
                      </a:r>
                      <a:endParaRPr sz="2000" u="none" strike="noStrike" cap="none" dirty="0">
                        <a:latin typeface="Times New Roman" panose="02020603050405020304" pitchFamily="18" charset="0"/>
                        <a:cs typeface="Times New Roman" panose="020206030504050203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306243">
                <a:tc>
                  <a:txBody>
                    <a:bodyPr/>
                    <a:lstStyle/>
                    <a:p>
                      <a:pPr marL="0" marR="0" lvl="0" indent="0" algn="ctr" rtl="0">
                        <a:spcBef>
                          <a:spcPts val="0"/>
                        </a:spcBef>
                        <a:spcAft>
                          <a:spcPts val="0"/>
                        </a:spcAft>
                        <a:buNone/>
                      </a:pPr>
                      <a:r>
                        <a:rPr lang="en-IN" sz="2000" u="none" strike="noStrike" cap="none" dirty="0">
                          <a:latin typeface="Times New Roman" panose="02020603050405020304" pitchFamily="18" charset="0"/>
                          <a:cs typeface="Times New Roman" panose="02020603050405020304" pitchFamily="18" charset="0"/>
                        </a:rPr>
                        <a:t>20221CAI0044</a:t>
                      </a:r>
                      <a:endParaRPr sz="2000" u="none" strike="noStrike" cap="none" dirty="0">
                        <a:latin typeface="Times New Roman" panose="02020603050405020304" pitchFamily="18" charset="0"/>
                        <a:cs typeface="Times New Roman" panose="020206030504050203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2000" u="none" strike="noStrike" cap="none" dirty="0">
                          <a:latin typeface="Times New Roman" panose="02020603050405020304" pitchFamily="18" charset="0"/>
                          <a:cs typeface="Times New Roman" panose="02020603050405020304" pitchFamily="18" charset="0"/>
                        </a:rPr>
                        <a:t>G.A. Videesh Reddy </a:t>
                      </a:r>
                      <a:endParaRPr sz="2000" u="none" strike="noStrike" cap="none" dirty="0">
                        <a:latin typeface="Times New Roman" panose="02020603050405020304" pitchFamily="18" charset="0"/>
                        <a:cs typeface="Times New Roman" panose="020206030504050203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06243">
                <a:tc>
                  <a:txBody>
                    <a:bodyPr/>
                    <a:lstStyle/>
                    <a:p>
                      <a:pPr marL="0" marR="0" lvl="0" indent="0" algn="ctr" rtl="0">
                        <a:spcBef>
                          <a:spcPts val="0"/>
                        </a:spcBef>
                        <a:spcAft>
                          <a:spcPts val="0"/>
                        </a:spcAft>
                        <a:buNone/>
                      </a:pPr>
                      <a:r>
                        <a:rPr lang="en-IN" sz="2000" u="none" strike="noStrike" cap="none" dirty="0">
                          <a:latin typeface="Times New Roman" panose="02020603050405020304" pitchFamily="18" charset="0"/>
                          <a:cs typeface="Times New Roman" panose="02020603050405020304" pitchFamily="18" charset="0"/>
                        </a:rPr>
                        <a:t>20221CAI0057</a:t>
                      </a:r>
                      <a:endParaRPr sz="2000" u="none" strike="noStrike" cap="none" dirty="0">
                        <a:latin typeface="Times New Roman" panose="02020603050405020304" pitchFamily="18" charset="0"/>
                        <a:cs typeface="Times New Roman" panose="020206030504050203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2000" u="none" strike="noStrike" cap="none" dirty="0">
                          <a:latin typeface="Times New Roman" panose="02020603050405020304" pitchFamily="18" charset="0"/>
                          <a:cs typeface="Times New Roman" panose="02020603050405020304" pitchFamily="18" charset="0"/>
                        </a:rPr>
                        <a:t>K</a:t>
                      </a:r>
                      <a:r>
                        <a:rPr lang="en-IN" sz="2000" u="none" strike="noStrike" cap="none" dirty="0">
                          <a:latin typeface="Times New Roman" panose="02020603050405020304" pitchFamily="18" charset="0"/>
                          <a:cs typeface="Times New Roman" panose="02020603050405020304" pitchFamily="18" charset="0"/>
                        </a:rPr>
                        <a:t>amparaju Keshasree </a:t>
                      </a:r>
                      <a:endParaRPr sz="2000" u="none" strike="noStrike" cap="none" dirty="0">
                        <a:latin typeface="Times New Roman" panose="02020603050405020304" pitchFamily="18" charset="0"/>
                        <a:cs typeface="Times New Roman" panose="020206030504050203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a:buNone/>
            </a:pPr>
            <a:r>
              <a:rPr lang="en-GB" sz="2000" b="1" dirty="0">
                <a:solidFill>
                  <a:srgbClr val="17365D"/>
                </a:solidFill>
                <a:latin typeface="Times New Roman" panose="02020603050405020304" pitchFamily="18" charset="0"/>
                <a:ea typeface="Cambria" panose="02040503050406030204" pitchFamily="18" charset="0"/>
                <a:cs typeface="Times New Roman" panose="02020603050405020304" pitchFamily="18" charset="0"/>
                <a:sym typeface="Verdana"/>
              </a:rPr>
              <a:t>CSE7302-</a:t>
            </a:r>
            <a:r>
              <a:rPr lang="en-GB" sz="2000" b="1" i="0" u="none" strike="noStrike" cap="none" dirty="0">
                <a:solidFill>
                  <a:srgbClr val="17365D"/>
                </a:solidFill>
                <a:latin typeface="Times New Roman" panose="02020603050405020304" pitchFamily="18" charset="0"/>
                <a:ea typeface="Cambria" panose="02040503050406030204" pitchFamily="18" charset="0"/>
                <a:cs typeface="Times New Roman" panose="02020603050405020304" pitchFamily="18" charset="0"/>
                <a:sym typeface="Verdana"/>
              </a:rPr>
              <a:t> </a:t>
            </a:r>
            <a:r>
              <a:rPr lang="en-GB" sz="2000" b="1" dirty="0">
                <a:solidFill>
                  <a:srgbClr val="17365D"/>
                </a:solidFill>
                <a:latin typeface="Times New Roman" panose="02020603050405020304" pitchFamily="18" charset="0"/>
                <a:ea typeface="Cambria" panose="02040503050406030204" pitchFamily="18" charset="0"/>
                <a:cs typeface="Times New Roman" panose="02020603050405020304" pitchFamily="18" charset="0"/>
                <a:sym typeface="Verdana"/>
              </a:rPr>
              <a:t>University</a:t>
            </a:r>
            <a:r>
              <a:rPr lang="en-GB" sz="2000" b="1" i="0" u="none" strike="noStrike" cap="none" dirty="0">
                <a:solidFill>
                  <a:srgbClr val="17365D"/>
                </a:solidFill>
                <a:latin typeface="Times New Roman" panose="02020603050405020304" pitchFamily="18" charset="0"/>
                <a:ea typeface="Cambria" panose="02040503050406030204" pitchFamily="18" charset="0"/>
                <a:cs typeface="Times New Roman" panose="02020603050405020304" pitchFamily="18" charset="0"/>
                <a:sym typeface="Verdana"/>
              </a:rPr>
              <a:t> Project</a:t>
            </a:r>
            <a:endParaRPr sz="2000" dirty="0">
              <a:latin typeface="Times New Roman" panose="02020603050405020304" pitchFamily="18" charset="0"/>
              <a:ea typeface="Cambria" panose="02040503050406030204" pitchFamily="18" charset="0"/>
              <a:cs typeface="Times New Roman" panose="02020603050405020304" pitchFamily="18" charset="0"/>
            </a:endParaRPr>
          </a:p>
          <a:p>
            <a:pPr marL="0" marR="0" lvl="0" indent="0" algn="ctr" rtl="0">
              <a:spcBef>
                <a:spcPts val="310"/>
              </a:spcBef>
              <a:spcAft>
                <a:spcPts val="0"/>
              </a:spcAft>
              <a:buClr>
                <a:srgbClr val="17365D"/>
              </a:buClr>
              <a:buSzPct val="100000"/>
              <a:buFont typeface="Arial"/>
              <a:buNone/>
            </a:pPr>
            <a:r>
              <a:rPr lang="en-GB" sz="2000" b="1" i="0" u="none" strike="noStrike" cap="none" dirty="0">
                <a:solidFill>
                  <a:srgbClr val="17365D"/>
                </a:solidFill>
                <a:latin typeface="Times New Roman" panose="02020603050405020304" pitchFamily="18" charset="0"/>
                <a:ea typeface="Cambria" panose="02040503050406030204" pitchFamily="18" charset="0"/>
                <a:cs typeface="Times New Roman" panose="02020603050405020304" pitchFamily="18" charset="0"/>
                <a:sym typeface="Verdana"/>
              </a:rPr>
              <a:t>Review-1</a:t>
            </a:r>
            <a:endParaRPr sz="2000" b="1" i="0" u="none" strike="noStrike" cap="none" dirty="0">
              <a:solidFill>
                <a:srgbClr val="17365D"/>
              </a:solidFill>
              <a:latin typeface="Times New Roman" panose="02020603050405020304" pitchFamily="18" charset="0"/>
              <a:ea typeface="Cambria" panose="02040503050406030204" pitchFamily="18" charset="0"/>
              <a:cs typeface="Times New Roman" panose="02020603050405020304" pitchFamily="18" charset="0"/>
              <a:sym typeface="Verdana"/>
            </a:endParaRPr>
          </a:p>
        </p:txBody>
      </p:sp>
      <p:sp>
        <p:nvSpPr>
          <p:cNvPr id="8" name="Google Shape;91;p13"/>
          <p:cNvSpPr txBox="1"/>
          <p:nvPr/>
        </p:nvSpPr>
        <p:spPr>
          <a:xfrm>
            <a:off x="0" y="4533900"/>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2000" b="1" i="0" u="none" strike="noStrike" cap="none"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sym typeface="Verdana"/>
              </a:rPr>
              <a:t>Name of the Program: B.TECH</a:t>
            </a:r>
          </a:p>
          <a:p>
            <a:pPr lvl="0">
              <a:buClr>
                <a:srgbClr val="17365D"/>
              </a:buClr>
              <a:buSzPct val="100000"/>
            </a:pPr>
            <a:r>
              <a:rPr lang="en-US" sz="2000" b="1"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sym typeface="Verdana"/>
              </a:rPr>
              <a:t>Name of the HoD: </a:t>
            </a:r>
            <a:r>
              <a:rPr lang="en-IN" sz="2000" b="1" dirty="0">
                <a:latin typeface="Times New Roman" panose="02020603050405020304" pitchFamily="18" charset="0"/>
                <a:cs typeface="Times New Roman" panose="02020603050405020304" pitchFamily="18" charset="0"/>
              </a:rPr>
              <a:t>Dr. Zafar Ali Khan N </a:t>
            </a:r>
            <a:endParaRPr lang="en-US" sz="2000" b="1" dirty="0">
              <a:solidFill>
                <a:srgbClr val="FF0000"/>
              </a:solidFill>
              <a:latin typeface="Times New Roman" panose="02020603050405020304" pitchFamily="18" charset="0"/>
              <a:ea typeface="Cambria" panose="02040503050406030204" pitchFamily="18" charset="0"/>
              <a:cs typeface="Times New Roman" panose="02020603050405020304" pitchFamily="18" charset="0"/>
              <a:sym typeface="Verdana"/>
            </a:endParaRPr>
          </a:p>
          <a:p>
            <a:pPr lvl="0">
              <a:buClr>
                <a:srgbClr val="17365D"/>
              </a:buClr>
              <a:buSzPct val="100000"/>
            </a:pPr>
            <a:r>
              <a:rPr lang="en-US" sz="2000" b="1" i="0" u="none" strike="noStrike" cap="none"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sym typeface="Verdana"/>
              </a:rPr>
              <a:t>Name of the Program Project Coordinator: </a:t>
            </a:r>
            <a:r>
              <a:rPr lang="en-US" sz="2000" b="1" i="0" u="none" strike="noStrike" cap="none" dirty="0">
                <a:solidFill>
                  <a:schemeClr val="tx1"/>
                </a:solidFill>
                <a:latin typeface="Times New Roman" panose="02020603050405020304" pitchFamily="18" charset="0"/>
                <a:ea typeface="Cambria" panose="02040503050406030204" pitchFamily="18" charset="0"/>
                <a:cs typeface="Times New Roman" panose="02020603050405020304" pitchFamily="18" charset="0"/>
                <a:sym typeface="Verdana"/>
              </a:rPr>
              <a:t>Ms.</a:t>
            </a:r>
            <a:r>
              <a:rPr lang="en-IN" sz="2000" b="1" i="0" u="none" strike="noStrike" cap="none" dirty="0">
                <a:solidFill>
                  <a:schemeClr val="tx1"/>
                </a:solidFill>
                <a:latin typeface="Times New Roman" panose="02020603050405020304" pitchFamily="18" charset="0"/>
                <a:ea typeface="Cambria" panose="02040503050406030204" pitchFamily="18" charset="0"/>
                <a:cs typeface="Times New Roman" panose="02020603050405020304" pitchFamily="18" charset="0"/>
                <a:sym typeface="Verdana"/>
              </a:rPr>
              <a:t>Suma N G</a:t>
            </a:r>
            <a:r>
              <a:rPr lang="en-IN" sz="2000" b="1" dirty="0">
                <a:solidFill>
                  <a:schemeClr val="tx1"/>
                </a:solidFill>
                <a:latin typeface="Times New Roman" panose="02020603050405020304" pitchFamily="18" charset="0"/>
                <a:cs typeface="Times New Roman" panose="02020603050405020304" pitchFamily="18" charset="0"/>
              </a:rPr>
              <a:t> </a:t>
            </a:r>
            <a:endParaRPr lang="en-US" sz="2000" b="1" dirty="0">
              <a:solidFill>
                <a:schemeClr val="tx1"/>
              </a:solidFill>
              <a:latin typeface="Times New Roman" panose="02020603050405020304" pitchFamily="18" charset="0"/>
              <a:ea typeface="Cambria" panose="02040503050406030204" pitchFamily="18" charset="0"/>
              <a:cs typeface="Times New Roman" panose="02020603050405020304" pitchFamily="18" charset="0"/>
              <a:sym typeface="Verdana"/>
            </a:endParaRPr>
          </a:p>
          <a:p>
            <a:pPr lvl="0">
              <a:buClr>
                <a:srgbClr val="17365D"/>
              </a:buClr>
              <a:buSzPct val="100000"/>
            </a:pPr>
            <a:r>
              <a:rPr lang="en-US" sz="2000" b="1" dirty="0">
                <a:solidFill>
                  <a:schemeClr val="accent1"/>
                </a:solidFill>
                <a:latin typeface="Times New Roman" panose="02020603050405020304" pitchFamily="18" charset="0"/>
                <a:ea typeface="Cambria" panose="02040503050406030204" pitchFamily="18" charset="0"/>
                <a:cs typeface="Times New Roman" panose="02020603050405020304" pitchFamily="18" charset="0"/>
                <a:sym typeface="Verdana"/>
              </a:rPr>
              <a:t>Name of the School Project Coordinators: </a:t>
            </a:r>
            <a:r>
              <a:rPr lang="en-US" sz="2000" b="1" i="0" u="none" strike="noStrike" cap="none" dirty="0">
                <a:solidFill>
                  <a:schemeClr val="tx1"/>
                </a:solidFill>
                <a:latin typeface="Times New Roman" panose="02020603050405020304" pitchFamily="18" charset="0"/>
                <a:ea typeface="Cambria" panose="02040503050406030204" pitchFamily="18" charset="0"/>
                <a:cs typeface="Times New Roman" panose="02020603050405020304" pitchFamily="18" charset="0"/>
                <a:sym typeface="Verdana"/>
              </a:rPr>
              <a:t>Dr. Sampath A K , Dr. Geetha A </a:t>
            </a:r>
            <a:endParaRPr sz="2000" b="1" i="0" u="none" strike="noStrike" cap="none" dirty="0">
              <a:solidFill>
                <a:schemeClr val="tx1"/>
              </a:solidFill>
              <a:latin typeface="Times New Roman" panose="02020603050405020304" pitchFamily="18" charset="0"/>
              <a:ea typeface="Cambria" panose="02040503050406030204" pitchFamily="18" charset="0"/>
              <a:cs typeface="Times New Roman" panose="02020603050405020304" pitchFamily="18" charset="0"/>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383555"/>
            <a:ext cx="10668000" cy="487500"/>
          </a:xfrm>
          <a:prstGeom prst="rect">
            <a:avLst/>
          </a:prstGeom>
          <a:noFill/>
          <a:ln>
            <a:noFill/>
          </a:ln>
        </p:spPr>
        <p:txBody>
          <a:bodyPr spcFirstLastPara="1" wrap="square" lIns="91425" tIns="45700" rIns="91425" bIns="45700" anchor="ctr" anchorCtr="0">
            <a:noAutofit/>
          </a:bodyPr>
          <a:lstStyle/>
          <a:p>
            <a:r>
              <a:rPr lang="en-GB" dirty="0">
                <a:latin typeface="Times New Roman" panose="02020603050405020304" pitchFamily="18" charset="0"/>
                <a:ea typeface="Cambria" panose="02040503050406030204" pitchFamily="18" charset="0"/>
                <a:cs typeface="Times New Roman" panose="02020603050405020304" pitchFamily="18" charset="0"/>
              </a:rPr>
              <a:t>Problem Statement Number: 166 </a:t>
            </a:r>
            <a:r>
              <a:rPr lang="en-GB" sz="2400" dirty="0">
                <a:latin typeface="Times New Roman" panose="02020603050405020304" pitchFamily="18" charset="0"/>
                <a:ea typeface="Cambria" panose="02040503050406030204" pitchFamily="18" charset="0"/>
                <a:cs typeface="Times New Roman" panose="02020603050405020304" pitchFamily="18" charset="0"/>
              </a:rPr>
              <a:t>(</a:t>
            </a:r>
            <a:r>
              <a:rPr lang="en-IN" sz="2400" dirty="0">
                <a:latin typeface="Times New Roman" panose="02020603050405020304" pitchFamily="18" charset="0"/>
                <a:cs typeface="Times New Roman" panose="02020603050405020304" pitchFamily="18" charset="0"/>
              </a:rPr>
              <a:t>SIH25171)</a:t>
            </a:r>
            <a:br>
              <a:rPr lang="en-IN" sz="2400" dirty="0">
                <a:latin typeface="Times New Roman" panose="02020603050405020304" pitchFamily="18" charset="0"/>
                <a:cs typeface="Times New Roman" panose="02020603050405020304" pitchFamily="18" charset="0"/>
              </a:rPr>
            </a:br>
            <a:endParaRPr sz="2400" dirty="0">
              <a:latin typeface="Times New Roman" panose="02020603050405020304" pitchFamily="18" charset="0"/>
              <a:ea typeface="Cambria" panose="02040503050406030204" pitchFamily="18" charset="0"/>
              <a:cs typeface="Times New Roman" panose="02020603050405020304" pitchFamily="18" charset="0"/>
            </a:endParaRP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fontScale="47500" lnSpcReduction="20000"/>
          </a:bodyPr>
          <a:lstStyle/>
          <a:p>
            <a:pPr marL="342900" indent="-190500" algn="just">
              <a:spcBef>
                <a:spcPts val="0"/>
              </a:spcBef>
              <a:buNone/>
            </a:pPr>
            <a:r>
              <a:rPr lang="en-US" sz="5100" b="1" dirty="0">
                <a:latin typeface="Times New Roman" panose="02020603050405020304" pitchFamily="18" charset="0"/>
                <a:ea typeface="Cambria" panose="02040503050406030204" pitchFamily="18" charset="0"/>
                <a:cs typeface="Times New Roman" panose="02020603050405020304" pitchFamily="18" charset="0"/>
              </a:rPr>
              <a:t>Organization :</a:t>
            </a:r>
            <a:r>
              <a:rPr lang="en-US" sz="5800" dirty="0">
                <a:latin typeface="Times New Roman" panose="02020603050405020304" pitchFamily="18" charset="0"/>
                <a:ea typeface="Cambria" panose="02040503050406030204" pitchFamily="18" charset="0"/>
                <a:cs typeface="Times New Roman" panose="02020603050405020304" pitchFamily="18" charset="0"/>
              </a:rPr>
              <a:t> </a:t>
            </a:r>
            <a:r>
              <a:rPr lang="en-US" sz="4200" dirty="0">
                <a:latin typeface="Times New Roman" panose="02020603050405020304" pitchFamily="18" charset="0"/>
                <a:cs typeface="Times New Roman" panose="02020603050405020304" pitchFamily="18" charset="0"/>
              </a:rPr>
              <a:t>Indian Space Research Organisation (ISRO)</a:t>
            </a:r>
            <a:endParaRPr lang="en-US" sz="4200" dirty="0">
              <a:latin typeface="Times New Roman" panose="02020603050405020304" pitchFamily="18" charset="0"/>
              <a:ea typeface="Cambria" panose="02040503050406030204" pitchFamily="18" charset="0"/>
              <a:cs typeface="Times New Roman" panose="02020603050405020304" pitchFamily="18" charset="0"/>
            </a:endParaRPr>
          </a:p>
          <a:p>
            <a:pPr marL="342900" lvl="0" indent="-190500" algn="just">
              <a:lnSpc>
                <a:spcPct val="200000"/>
              </a:lnSpc>
              <a:spcBef>
                <a:spcPts val="0"/>
              </a:spcBef>
              <a:buNone/>
            </a:pPr>
            <a:r>
              <a:rPr lang="en-US" sz="5100" b="1" dirty="0">
                <a:latin typeface="Times New Roman" panose="02020603050405020304" pitchFamily="18" charset="0"/>
                <a:ea typeface="Cambria" panose="02040503050406030204" pitchFamily="18" charset="0"/>
                <a:cs typeface="Times New Roman" panose="02020603050405020304" pitchFamily="18" charset="0"/>
              </a:rPr>
              <a:t>Category (Hardware / Software / Both) :</a:t>
            </a:r>
            <a:r>
              <a:rPr lang="en-US" sz="5100" dirty="0">
                <a:latin typeface="Times New Roman" panose="02020603050405020304" pitchFamily="18" charset="0"/>
                <a:ea typeface="Cambria" panose="02040503050406030204" pitchFamily="18" charset="0"/>
                <a:cs typeface="Times New Roman" panose="02020603050405020304" pitchFamily="18" charset="0"/>
              </a:rPr>
              <a:t> </a:t>
            </a:r>
            <a:r>
              <a:rPr lang="en-US" sz="4200" dirty="0">
                <a:latin typeface="Times New Roman" panose="02020603050405020304" pitchFamily="18" charset="0"/>
                <a:ea typeface="Cambria" panose="02040503050406030204" pitchFamily="18" charset="0"/>
                <a:cs typeface="Times New Roman" panose="02020603050405020304" pitchFamily="18" charset="0"/>
              </a:rPr>
              <a:t>Software</a:t>
            </a:r>
            <a:endParaRPr lang="en-US" sz="3600" dirty="0">
              <a:latin typeface="Times New Roman" panose="02020603050405020304" pitchFamily="18" charset="0"/>
              <a:ea typeface="Cambria" panose="02040503050406030204" pitchFamily="18" charset="0"/>
              <a:cs typeface="Times New Roman" panose="02020603050405020304" pitchFamily="18" charset="0"/>
            </a:endParaRPr>
          </a:p>
          <a:p>
            <a:pPr marL="342900" lvl="0" indent="-190500" algn="just">
              <a:lnSpc>
                <a:spcPct val="200000"/>
              </a:lnSpc>
              <a:spcBef>
                <a:spcPts val="0"/>
              </a:spcBef>
              <a:buNone/>
            </a:pPr>
            <a:r>
              <a:rPr lang="en-US" sz="5100" b="1" dirty="0">
                <a:latin typeface="Times New Roman" panose="02020603050405020304" pitchFamily="18" charset="0"/>
                <a:ea typeface="Cambria" panose="02040503050406030204" pitchFamily="18" charset="0"/>
                <a:cs typeface="Times New Roman" panose="02020603050405020304" pitchFamily="18" charset="0"/>
              </a:rPr>
              <a:t>Problem Description : </a:t>
            </a:r>
          </a:p>
          <a:p>
            <a:pPr marL="152400" indent="0" algn="just">
              <a:lnSpc>
                <a:spcPct val="200000"/>
              </a:lnSpc>
              <a:spcBef>
                <a:spcPts val="0"/>
              </a:spcBef>
              <a:buNone/>
            </a:pPr>
            <a:r>
              <a:rPr lang="en-US" sz="3500" dirty="0">
                <a:latin typeface="Times New Roman" panose="02020603050405020304" pitchFamily="18" charset="0"/>
                <a:cs typeface="Times New Roman" panose="02020603050405020304" pitchFamily="18" charset="0"/>
              </a:rPr>
              <a:t>Thermal infrared (IR) cameras are very helpful in night-time and low-light situations because they detect heat instead of light. However, most thermal cameras produce low-resolution images due to sensor limitations and the high cost of high-resolution thermal devices. Because of this, thermal images often look blurry and unclear, which can reduce performance in applications like surveillance, object detection, and security monitoring. To overcome this problem, our project improves the quality of thermal IR images using super-resolution techniques guided by aligned high-resolution optical (RGB) images, so that the final thermal output becomes sharper, clearer, and more detailed.</a:t>
            </a:r>
          </a:p>
        </p:txBody>
      </p:sp>
    </p:spTree>
    <p:extLst>
      <p:ext uri="{BB962C8B-B14F-4D97-AF65-F5344CB8AC3E}">
        <p14:creationId xmlns:p14="http://schemas.microsoft.com/office/powerpoint/2010/main" val="21434518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Times New Roman" panose="02020603050405020304" pitchFamily="18" charset="0"/>
                <a:ea typeface="Cambria" panose="02040503050406030204" pitchFamily="18" charset="0"/>
                <a:cs typeface="Times New Roman" panose="02020603050405020304" pitchFamily="18" charset="0"/>
              </a:rPr>
              <a:t>Content</a:t>
            </a:r>
            <a:endParaRPr dirty="0">
              <a:latin typeface="Times New Roman" panose="02020603050405020304" pitchFamily="18" charset="0"/>
              <a:ea typeface="Cambria" panose="02040503050406030204" pitchFamily="18" charset="0"/>
              <a:cs typeface="Times New Roman" panose="02020603050405020304" pitchFamily="18" charset="0"/>
            </a:endParaRPr>
          </a:p>
        </p:txBody>
      </p:sp>
      <p:sp>
        <p:nvSpPr>
          <p:cNvPr id="97" name="Google Shape;97;p14"/>
          <p:cNvSpPr txBox="1">
            <a:spLocks noGrp="1"/>
          </p:cNvSpPr>
          <p:nvPr>
            <p:ph type="body" idx="1"/>
          </p:nvPr>
        </p:nvSpPr>
        <p:spPr>
          <a:xfrm>
            <a:off x="655782" y="1466273"/>
            <a:ext cx="10668000" cy="3924299"/>
          </a:xfrm>
          <a:prstGeom prst="rect">
            <a:avLst/>
          </a:prstGeom>
          <a:noFill/>
          <a:ln>
            <a:noFill/>
          </a:ln>
        </p:spPr>
        <p:txBody>
          <a:bodyPr spcFirstLastPara="1" wrap="square" lIns="91425" tIns="45700" rIns="91425" bIns="45700" anchor="t" anchorCtr="0">
            <a:normAutofit fontScale="25000" lnSpcReduction="20000"/>
          </a:bodyPr>
          <a:lstStyle/>
          <a:p>
            <a:pPr marL="609600" indent="-457200" algn="just">
              <a:lnSpc>
                <a:spcPct val="200000"/>
              </a:lnSpc>
              <a:spcBef>
                <a:spcPts val="0"/>
              </a:spcBef>
              <a:buFont typeface="Wingdings" panose="05000000000000000000" pitchFamily="2" charset="2"/>
              <a:buChar char="Ø"/>
            </a:pPr>
            <a:r>
              <a:rPr lang="en-US" sz="8000" dirty="0">
                <a:latin typeface="Times New Roman" panose="02020603050405020304" pitchFamily="18" charset="0"/>
                <a:ea typeface="Cambria" panose="02040503050406030204" pitchFamily="18" charset="0"/>
                <a:cs typeface="Times New Roman" panose="02020603050405020304" pitchFamily="18" charset="0"/>
              </a:rPr>
              <a:t>Objectives</a:t>
            </a:r>
          </a:p>
          <a:p>
            <a:pPr marL="609600" indent="-457200" algn="just">
              <a:lnSpc>
                <a:spcPct val="200000"/>
              </a:lnSpc>
              <a:spcBef>
                <a:spcPts val="0"/>
              </a:spcBef>
              <a:buFont typeface="Wingdings" panose="05000000000000000000" pitchFamily="2" charset="2"/>
              <a:buChar char="Ø"/>
            </a:pPr>
            <a:r>
              <a:rPr lang="en-US" sz="8000" dirty="0">
                <a:latin typeface="Times New Roman" panose="02020603050405020304" pitchFamily="18" charset="0"/>
                <a:ea typeface="Cambria" panose="02040503050406030204" pitchFamily="18" charset="0"/>
                <a:cs typeface="Times New Roman" panose="02020603050405020304" pitchFamily="18" charset="0"/>
              </a:rPr>
              <a:t>Background and Related work for title Selection</a:t>
            </a:r>
          </a:p>
          <a:p>
            <a:pPr marL="609600" lvl="0" indent="-457200" algn="just">
              <a:lnSpc>
                <a:spcPct val="200000"/>
              </a:lnSpc>
              <a:spcBef>
                <a:spcPts val="0"/>
              </a:spcBef>
              <a:buFont typeface="Wingdings" panose="05000000000000000000" pitchFamily="2" charset="2"/>
              <a:buChar char="Ø"/>
            </a:pPr>
            <a:r>
              <a:rPr lang="en-US" sz="8000" dirty="0">
                <a:latin typeface="Times New Roman" panose="02020603050405020304" pitchFamily="18" charset="0"/>
                <a:ea typeface="Cambria" panose="02040503050406030204" pitchFamily="18" charset="0"/>
                <a:cs typeface="Times New Roman" panose="02020603050405020304" pitchFamily="18" charset="0"/>
              </a:rPr>
              <a:t>Analysis of Problem Statement</a:t>
            </a:r>
          </a:p>
          <a:p>
            <a:pPr marL="609600" lvl="0" indent="-457200" algn="just">
              <a:lnSpc>
                <a:spcPct val="200000"/>
              </a:lnSpc>
              <a:spcBef>
                <a:spcPts val="0"/>
              </a:spcBef>
              <a:buFont typeface="Wingdings" panose="05000000000000000000" pitchFamily="2" charset="2"/>
              <a:buChar char="Ø"/>
            </a:pPr>
            <a:r>
              <a:rPr lang="en-US" sz="8000" dirty="0">
                <a:latin typeface="Times New Roman" panose="02020603050405020304" pitchFamily="18" charset="0"/>
                <a:ea typeface="Cambria" panose="02040503050406030204" pitchFamily="18" charset="0"/>
                <a:cs typeface="Times New Roman" panose="02020603050405020304" pitchFamily="18" charset="0"/>
              </a:rPr>
              <a:t>Innovation or Novel Contributions</a:t>
            </a:r>
          </a:p>
          <a:p>
            <a:pPr marL="609600" indent="-457200" algn="just">
              <a:lnSpc>
                <a:spcPct val="200000"/>
              </a:lnSpc>
              <a:spcBef>
                <a:spcPts val="0"/>
              </a:spcBef>
              <a:buFont typeface="Wingdings" panose="05000000000000000000" pitchFamily="2" charset="2"/>
              <a:buChar char="Ø"/>
            </a:pPr>
            <a:r>
              <a:rPr lang="en-US" sz="8000" dirty="0">
                <a:latin typeface="Times New Roman" panose="02020603050405020304" pitchFamily="18" charset="0"/>
                <a:ea typeface="Cambria" panose="02040503050406030204" pitchFamily="18" charset="0"/>
                <a:cs typeface="Times New Roman" panose="02020603050405020304" pitchFamily="18" charset="0"/>
              </a:rPr>
              <a:t>Git-hub Link</a:t>
            </a:r>
          </a:p>
          <a:p>
            <a:pPr marL="609600" lvl="0" indent="-457200" algn="just" rtl="0">
              <a:lnSpc>
                <a:spcPct val="200000"/>
              </a:lnSpc>
              <a:spcBef>
                <a:spcPts val="0"/>
              </a:spcBef>
              <a:spcAft>
                <a:spcPts val="0"/>
              </a:spcAft>
              <a:buClr>
                <a:schemeClr val="dk1"/>
              </a:buClr>
              <a:buSzPts val="2400"/>
              <a:buFont typeface="Wingdings" panose="05000000000000000000" pitchFamily="2" charset="2"/>
              <a:buChar char="Ø"/>
            </a:pPr>
            <a:r>
              <a:rPr lang="en-US" sz="8000" dirty="0">
                <a:latin typeface="Times New Roman" panose="02020603050405020304" pitchFamily="18" charset="0"/>
                <a:ea typeface="Cambria" panose="02040503050406030204" pitchFamily="18" charset="0"/>
                <a:cs typeface="Times New Roman" panose="02020603050405020304" pitchFamily="18" charset="0"/>
              </a:rPr>
              <a:t>Timeline of the Project</a:t>
            </a:r>
          </a:p>
          <a:p>
            <a:pPr marL="609600" lvl="0" indent="-457200" algn="just" rtl="0">
              <a:lnSpc>
                <a:spcPct val="200000"/>
              </a:lnSpc>
              <a:spcBef>
                <a:spcPts val="0"/>
              </a:spcBef>
              <a:spcAft>
                <a:spcPts val="0"/>
              </a:spcAft>
              <a:buClr>
                <a:schemeClr val="dk1"/>
              </a:buClr>
              <a:buSzPts val="2400"/>
              <a:buFont typeface="Wingdings" panose="05000000000000000000" pitchFamily="2" charset="2"/>
              <a:buChar char="Ø"/>
            </a:pPr>
            <a:r>
              <a:rPr lang="en-US" sz="8000" dirty="0">
                <a:latin typeface="Times New Roman" panose="02020603050405020304" pitchFamily="18" charset="0"/>
                <a:ea typeface="Cambria" panose="02040503050406030204" pitchFamily="18" charset="0"/>
                <a:cs typeface="Times New Roman" panose="02020603050405020304" pitchFamily="18" charset="0"/>
              </a:rPr>
              <a:t>References</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IN" dirty="0">
                <a:latin typeface="Times New Roman" panose="02020603050405020304" pitchFamily="18" charset="0"/>
                <a:ea typeface="Cambria" panose="02040503050406030204" pitchFamily="18" charset="0"/>
                <a:cs typeface="Times New Roman" panose="02020603050405020304" pitchFamily="18" charset="0"/>
              </a:rPr>
              <a:t>Objectives</a:t>
            </a:r>
            <a:endParaRPr dirty="0">
              <a:latin typeface="Times New Roman" panose="02020603050405020304" pitchFamily="18" charset="0"/>
              <a:ea typeface="Cambria" panose="02040503050406030204" pitchFamily="18" charset="0"/>
              <a:cs typeface="Times New Roman" panose="02020603050405020304" pitchFamily="18" charset="0"/>
            </a:endParaRPr>
          </a:p>
        </p:txBody>
      </p:sp>
      <p:sp>
        <p:nvSpPr>
          <p:cNvPr id="4" name="Text Placeholder 3">
            <a:extLst>
              <a:ext uri="{FF2B5EF4-FFF2-40B4-BE49-F238E27FC236}">
                <a16:creationId xmlns:a16="http://schemas.microsoft.com/office/drawing/2014/main" id="{CDD437B4-6011-1A3A-3D7F-2B81F9B51B05}"/>
              </a:ext>
            </a:extLst>
          </p:cNvPr>
          <p:cNvSpPr>
            <a:spLocks noGrp="1" noChangeArrowheads="1"/>
          </p:cNvSpPr>
          <p:nvPr>
            <p:ph type="body" idx="1"/>
          </p:nvPr>
        </p:nvSpPr>
        <p:spPr bwMode="auto">
          <a:xfrm>
            <a:off x="812800" y="1307906"/>
            <a:ext cx="11156710" cy="4242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r>
              <a:rPr lang="en-US" sz="2000" dirty="0">
                <a:latin typeface="Times New Roman" panose="02020603050405020304" pitchFamily="18" charset="0"/>
                <a:cs typeface="Times New Roman" panose="02020603050405020304" pitchFamily="18" charset="0"/>
              </a:rPr>
              <a:t>Build an Optical-Guided Super-Resolution (OGSR) system for thermal IR.</a:t>
            </a:r>
          </a:p>
          <a:p>
            <a:pPr algn="just"/>
            <a:r>
              <a:rPr lang="en-US" sz="2000" dirty="0">
                <a:latin typeface="Times New Roman" panose="02020603050405020304" pitchFamily="18" charset="0"/>
                <a:cs typeface="Times New Roman" panose="02020603050405020304" pitchFamily="18" charset="0"/>
              </a:rPr>
              <a:t>Use aligned optical images as guidance to reconstruct high-resolution thermal data.</a:t>
            </a:r>
          </a:p>
          <a:p>
            <a:pPr algn="just"/>
            <a:r>
              <a:rPr lang="en-US" sz="2000" dirty="0">
                <a:latin typeface="Times New Roman" panose="02020603050405020304" pitchFamily="18" charset="0"/>
                <a:cs typeface="Times New Roman" panose="02020603050405020304" pitchFamily="18" charset="0"/>
              </a:rPr>
              <a:t>Improve performance for tasks like:</a:t>
            </a:r>
          </a:p>
          <a:p>
            <a:pPr algn="just"/>
            <a:r>
              <a:rPr lang="en-US" sz="2000" dirty="0">
                <a:latin typeface="Times New Roman" panose="02020603050405020304" pitchFamily="18" charset="0"/>
                <a:cs typeface="Times New Roman" panose="02020603050405020304" pitchFamily="18" charset="0"/>
              </a:rPr>
              <a:t>object detection</a:t>
            </a:r>
          </a:p>
          <a:p>
            <a:pPr algn="just"/>
            <a:r>
              <a:rPr lang="en-US" sz="2000" dirty="0">
                <a:latin typeface="Times New Roman" panose="02020603050405020304" pitchFamily="18" charset="0"/>
                <a:cs typeface="Times New Roman" panose="02020603050405020304" pitchFamily="18" charset="0"/>
              </a:rPr>
              <a:t>surveillance</a:t>
            </a:r>
          </a:p>
          <a:p>
            <a:pPr algn="just"/>
            <a:r>
              <a:rPr lang="en-US" sz="2000" dirty="0">
                <a:latin typeface="Times New Roman" panose="02020603050405020304" pitchFamily="18" charset="0"/>
                <a:cs typeface="Times New Roman" panose="02020603050405020304" pitchFamily="18" charset="0"/>
              </a:rPr>
              <a:t>monitoring in low-light/night</a:t>
            </a:r>
          </a:p>
          <a:p>
            <a:pPr algn="just"/>
            <a:r>
              <a:rPr lang="en-US" sz="2000" dirty="0">
                <a:latin typeface="Times New Roman" panose="02020603050405020304" pitchFamily="18" charset="0"/>
                <a:cs typeface="Times New Roman" panose="02020603050405020304" pitchFamily="18" charset="0"/>
              </a:rPr>
              <a:t>Evaluate with:</a:t>
            </a:r>
          </a:p>
          <a:p>
            <a:pPr algn="just"/>
            <a:r>
              <a:rPr lang="en-US" sz="2000" dirty="0">
                <a:latin typeface="Times New Roman" panose="02020603050405020304" pitchFamily="18" charset="0"/>
                <a:cs typeface="Times New Roman" panose="02020603050405020304" pitchFamily="18" charset="0"/>
              </a:rPr>
              <a:t>PSNR</a:t>
            </a:r>
          </a:p>
          <a:p>
            <a:pPr algn="just"/>
            <a:r>
              <a:rPr lang="en-US" sz="2000" dirty="0">
                <a:latin typeface="Times New Roman" panose="02020603050405020304" pitchFamily="18" charset="0"/>
                <a:cs typeface="Times New Roman" panose="02020603050405020304" pitchFamily="18" charset="0"/>
              </a:rPr>
              <a:t>SSIM</a:t>
            </a:r>
          </a:p>
          <a:p>
            <a:pPr algn="just"/>
            <a:r>
              <a:rPr lang="en-US" sz="2000" dirty="0">
                <a:latin typeface="Times New Roman" panose="02020603050405020304" pitchFamily="18" charset="0"/>
                <a:cs typeface="Times New Roman" panose="02020603050405020304" pitchFamily="18" charset="0"/>
              </a:rPr>
              <a:t>Visual comparison results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379795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A72553-FF0B-6DE5-906D-812FF1F0406C}"/>
              </a:ext>
            </a:extLst>
          </p:cNvPr>
          <p:cNvSpPr>
            <a:spLocks noGrp="1"/>
          </p:cNvSpPr>
          <p:nvPr>
            <p:ph type="title"/>
          </p:nvPr>
        </p:nvSpPr>
        <p:spPr/>
        <p:txBody>
          <a:bodyPr/>
          <a:lstStyle/>
          <a:p>
            <a:r>
              <a:rPr lang="en-IN" dirty="0">
                <a:latin typeface="Times New Roman" panose="02020603050405020304" pitchFamily="18" charset="0"/>
                <a:ea typeface="Cambria" panose="02040503050406030204" pitchFamily="18" charset="0"/>
                <a:cs typeface="Times New Roman" panose="02020603050405020304" pitchFamily="18" charset="0"/>
              </a:rPr>
              <a:t>Background and Related work</a:t>
            </a:r>
          </a:p>
        </p:txBody>
      </p:sp>
      <p:sp>
        <p:nvSpPr>
          <p:cNvPr id="3" name="Text Placeholder 2">
            <a:extLst>
              <a:ext uri="{FF2B5EF4-FFF2-40B4-BE49-F238E27FC236}">
                <a16:creationId xmlns:a16="http://schemas.microsoft.com/office/drawing/2014/main" id="{8A22E667-AE8F-A65E-DA4D-4B1CA8B98277}"/>
              </a:ext>
            </a:extLst>
          </p:cNvPr>
          <p:cNvSpPr>
            <a:spLocks noGrp="1"/>
          </p:cNvSpPr>
          <p:nvPr>
            <p:ph type="body" idx="1"/>
          </p:nvPr>
        </p:nvSpPr>
        <p:spPr/>
        <p:txBody>
          <a:bodyPr>
            <a:normAutofit/>
          </a:bodyPr>
          <a:lstStyle/>
          <a:p>
            <a:pPr algn="just"/>
            <a:r>
              <a:rPr lang="en-US" sz="2000" dirty="0">
                <a:latin typeface="Times New Roman" panose="02020603050405020304" pitchFamily="18" charset="0"/>
                <a:cs typeface="Times New Roman" panose="02020603050405020304" pitchFamily="18" charset="0"/>
              </a:rPr>
              <a:t>Thermal IR captures heat signatures</a:t>
            </a:r>
          </a:p>
          <a:p>
            <a:pPr algn="just"/>
            <a:r>
              <a:rPr lang="en-US" sz="2000" dirty="0">
                <a:latin typeface="Times New Roman" panose="02020603050405020304" pitchFamily="18" charset="0"/>
                <a:cs typeface="Times New Roman" panose="02020603050405020304" pitchFamily="18" charset="0"/>
              </a:rPr>
              <a:t>Works in dark/night conditions</a:t>
            </a:r>
          </a:p>
          <a:p>
            <a:pPr algn="just"/>
            <a:r>
              <a:rPr lang="en-US" sz="2000" dirty="0">
                <a:latin typeface="Times New Roman" panose="02020603050405020304" pitchFamily="18" charset="0"/>
                <a:cs typeface="Times New Roman" panose="02020603050405020304" pitchFamily="18" charset="0"/>
              </a:rPr>
              <a:t>Robust to lighting changes</a:t>
            </a:r>
          </a:p>
          <a:p>
            <a:pPr algn="just"/>
            <a:r>
              <a:rPr lang="en-US" sz="2000" dirty="0">
                <a:latin typeface="Times New Roman" panose="02020603050405020304" pitchFamily="18" charset="0"/>
                <a:cs typeface="Times New Roman" panose="02020603050405020304" pitchFamily="18" charset="0"/>
              </a:rPr>
              <a:t>But thermal sensors are expensive → usually low resolution</a:t>
            </a:r>
          </a:p>
          <a:p>
            <a:pPr algn="just"/>
            <a:r>
              <a:rPr lang="en-US" sz="2000" dirty="0">
                <a:latin typeface="Times New Roman" panose="02020603050405020304" pitchFamily="18" charset="0"/>
                <a:cs typeface="Times New Roman" panose="02020603050405020304" pitchFamily="18" charset="0"/>
              </a:rPr>
              <a:t>Optical RGB images have:</a:t>
            </a:r>
          </a:p>
          <a:p>
            <a:pPr algn="just"/>
            <a:r>
              <a:rPr lang="en-US" sz="2000" dirty="0">
                <a:latin typeface="Times New Roman" panose="02020603050405020304" pitchFamily="18" charset="0"/>
                <a:cs typeface="Times New Roman" panose="02020603050405020304" pitchFamily="18" charset="0"/>
              </a:rPr>
              <a:t>fine edges</a:t>
            </a:r>
          </a:p>
          <a:p>
            <a:pPr algn="just"/>
            <a:r>
              <a:rPr lang="en-US" sz="2000" dirty="0">
                <a:latin typeface="Times New Roman" panose="02020603050405020304" pitchFamily="18" charset="0"/>
                <a:cs typeface="Times New Roman" panose="02020603050405020304" pitchFamily="18" charset="0"/>
              </a:rPr>
              <a:t>textures</a:t>
            </a:r>
          </a:p>
          <a:p>
            <a:pPr algn="just"/>
            <a:r>
              <a:rPr lang="en-US" sz="2000" dirty="0">
                <a:latin typeface="Times New Roman" panose="02020603050405020304" pitchFamily="18" charset="0"/>
                <a:cs typeface="Times New Roman" panose="02020603050405020304" pitchFamily="18" charset="0"/>
              </a:rPr>
              <a:t>Details</a:t>
            </a:r>
          </a:p>
          <a:p>
            <a:pPr algn="just"/>
            <a:r>
              <a:rPr lang="en-US" sz="2000" dirty="0">
                <a:latin typeface="Times New Roman" panose="02020603050405020304" pitchFamily="18" charset="0"/>
                <a:cs typeface="Times New Roman" panose="02020603050405020304" pitchFamily="18" charset="0"/>
              </a:rPr>
              <a:t> So optical images can guide thermal SR.</a:t>
            </a:r>
          </a:p>
        </p:txBody>
      </p:sp>
    </p:spTree>
    <p:extLst>
      <p:ext uri="{BB962C8B-B14F-4D97-AF65-F5344CB8AC3E}">
        <p14:creationId xmlns:p14="http://schemas.microsoft.com/office/powerpoint/2010/main" val="33262431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Times New Roman" panose="02020603050405020304" pitchFamily="18" charset="0"/>
                <a:ea typeface="Cambria" panose="02040503050406030204" pitchFamily="18" charset="0"/>
                <a:cs typeface="Times New Roman" panose="02020603050405020304" pitchFamily="18" charset="0"/>
              </a:rPr>
              <a:t>Analysis of Problem Statement</a:t>
            </a:r>
          </a:p>
        </p:txBody>
      </p:sp>
      <p:sp>
        <p:nvSpPr>
          <p:cNvPr id="115" name="Google Shape;115;p17"/>
          <p:cNvSpPr txBox="1">
            <a:spLocks noGrp="1"/>
          </p:cNvSpPr>
          <p:nvPr>
            <p:ph type="body" idx="1"/>
          </p:nvPr>
        </p:nvSpPr>
        <p:spPr>
          <a:xfrm>
            <a:off x="812800" y="9525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a:lnSpc>
                <a:spcPct val="200000"/>
              </a:lnSpc>
              <a:spcBef>
                <a:spcPts val="0"/>
              </a:spcBef>
              <a:buSzPct val="100000"/>
              <a:buNone/>
            </a:pPr>
            <a:r>
              <a:rPr lang="en-IN" sz="2000" b="1" dirty="0">
                <a:latin typeface="Times New Roman" panose="02020603050405020304" pitchFamily="18" charset="0"/>
                <a:cs typeface="Times New Roman" panose="02020603050405020304" pitchFamily="18" charset="0"/>
              </a:rPr>
              <a:t>Current Challenges</a:t>
            </a:r>
          </a:p>
          <a:p>
            <a:pPr algn="just"/>
            <a:r>
              <a:rPr lang="en-US" sz="2000" dirty="0">
                <a:latin typeface="Times New Roman" panose="02020603050405020304" pitchFamily="18" charset="0"/>
                <a:cs typeface="Times New Roman" panose="02020603050405020304" pitchFamily="18" charset="0"/>
              </a:rPr>
              <a:t>Thermal IR cameras are extremely useful in dark/night conditions, but most thermal images are low-resolution.</a:t>
            </a:r>
          </a:p>
          <a:p>
            <a:pPr algn="just"/>
            <a:r>
              <a:rPr lang="en-US" sz="2000" dirty="0">
                <a:latin typeface="Times New Roman" panose="02020603050405020304" pitchFamily="18" charset="0"/>
                <a:cs typeface="Times New Roman" panose="02020603050405020304" pitchFamily="18" charset="0"/>
              </a:rPr>
              <a:t>Low resolution causes:</a:t>
            </a:r>
          </a:p>
          <a:p>
            <a:pPr algn="just"/>
            <a:r>
              <a:rPr lang="en-US" sz="2000" dirty="0">
                <a:latin typeface="Times New Roman" panose="02020603050405020304" pitchFamily="18" charset="0"/>
                <a:cs typeface="Times New Roman" panose="02020603050405020304" pitchFamily="18" charset="0"/>
              </a:rPr>
              <a:t>blurred objects</a:t>
            </a:r>
          </a:p>
          <a:p>
            <a:pPr algn="just"/>
            <a:r>
              <a:rPr lang="en-US" sz="2000" dirty="0">
                <a:latin typeface="Times New Roman" panose="02020603050405020304" pitchFamily="18" charset="0"/>
                <a:cs typeface="Times New Roman" panose="02020603050405020304" pitchFamily="18" charset="0"/>
              </a:rPr>
              <a:t>unclear boundaries</a:t>
            </a:r>
          </a:p>
          <a:p>
            <a:pPr algn="just"/>
            <a:r>
              <a:rPr lang="en-US" sz="2000" dirty="0">
                <a:latin typeface="Times New Roman" panose="02020603050405020304" pitchFamily="18" charset="0"/>
                <a:cs typeface="Times New Roman" panose="02020603050405020304" pitchFamily="18" charset="0"/>
              </a:rPr>
              <a:t>loss of fine details (edges, textures)</a:t>
            </a:r>
          </a:p>
          <a:p>
            <a:pPr algn="just"/>
            <a:r>
              <a:rPr lang="en-US" sz="2000" dirty="0">
                <a:latin typeface="Times New Roman" panose="02020603050405020304" pitchFamily="18" charset="0"/>
                <a:cs typeface="Times New Roman" panose="02020603050405020304" pitchFamily="18" charset="0"/>
              </a:rPr>
              <a:t>High-resolution thermal cameras exist, but they are very costly, so they are not affordable for many real-world applications.</a:t>
            </a:r>
          </a:p>
          <a:p>
            <a:pPr algn="just"/>
            <a:r>
              <a:rPr lang="en-US" sz="2000" dirty="0">
                <a:latin typeface="Times New Roman" panose="02020603050405020304" pitchFamily="18" charset="0"/>
                <a:cs typeface="Times New Roman" panose="02020603050405020304" pitchFamily="18" charset="0"/>
              </a:rPr>
              <a:t>Due to these issues, thermal IR systems struggle in tasks like surveillance, monitoring, detection, and tracking.</a:t>
            </a:r>
          </a:p>
          <a:p>
            <a:pPr marL="342900" lvl="0" indent="-190500" algn="just">
              <a:lnSpc>
                <a:spcPct val="200000"/>
              </a:lnSpc>
              <a:spcBef>
                <a:spcPts val="0"/>
              </a:spcBef>
              <a:buSzPct val="100000"/>
              <a:buNone/>
            </a:pPr>
            <a:endParaRPr sz="2000" b="1"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0308161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Times New Roman" panose="02020603050405020304" pitchFamily="18" charset="0"/>
                <a:ea typeface="Cambria" panose="02040503050406030204" pitchFamily="18" charset="0"/>
                <a:cs typeface="Times New Roman" panose="02020603050405020304" pitchFamily="18" charset="0"/>
              </a:rPr>
              <a:t>Analysis of Problem Statement (contd...)</a:t>
            </a:r>
          </a:p>
        </p:txBody>
      </p:sp>
      <p:sp>
        <p:nvSpPr>
          <p:cNvPr id="115" name="Google Shape;115;p17"/>
          <p:cNvSpPr txBox="1">
            <a:spLocks noGrp="1"/>
          </p:cNvSpPr>
          <p:nvPr>
            <p:ph type="body" idx="1"/>
          </p:nvPr>
        </p:nvSpPr>
        <p:spPr>
          <a:xfrm>
            <a:off x="812800" y="9525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a:lnSpc>
                <a:spcPct val="200000"/>
              </a:lnSpc>
              <a:spcBef>
                <a:spcPts val="0"/>
              </a:spcBef>
              <a:buSzPct val="100000"/>
              <a:buNone/>
            </a:pPr>
            <a:r>
              <a:rPr lang="en-IN" sz="2000" b="1" dirty="0">
                <a:latin typeface="Times New Roman" panose="02020603050405020304" pitchFamily="18" charset="0"/>
                <a:cs typeface="Times New Roman" panose="02020603050405020304" pitchFamily="18" charset="0"/>
              </a:rPr>
              <a:t>Needs &amp; Expectations</a:t>
            </a:r>
          </a:p>
          <a:p>
            <a:pPr algn="just"/>
            <a:r>
              <a:rPr lang="en-US" sz="2000" dirty="0">
                <a:latin typeface="Times New Roman" panose="02020603050405020304" pitchFamily="18" charset="0"/>
                <a:cs typeface="Times New Roman" panose="02020603050405020304" pitchFamily="18" charset="0"/>
              </a:rPr>
              <a:t>Need a method to increase thermal image quality without upgrading expensive thermal hardware.</a:t>
            </a:r>
          </a:p>
          <a:p>
            <a:pPr algn="just"/>
            <a:r>
              <a:rPr lang="en-US" sz="2000" dirty="0">
                <a:latin typeface="Times New Roman" panose="02020603050405020304" pitchFamily="18" charset="0"/>
                <a:cs typeface="Times New Roman" panose="02020603050405020304" pitchFamily="18" charset="0"/>
              </a:rPr>
              <a:t>The solution should:</a:t>
            </a:r>
          </a:p>
          <a:p>
            <a:pPr algn="just"/>
            <a:r>
              <a:rPr lang="en-US" sz="2000" dirty="0">
                <a:latin typeface="Times New Roman" panose="02020603050405020304" pitchFamily="18" charset="0"/>
                <a:cs typeface="Times New Roman" panose="02020603050405020304" pitchFamily="18" charset="0"/>
              </a:rPr>
              <a:t>improve sharpness and clarity</a:t>
            </a:r>
          </a:p>
          <a:p>
            <a:pPr algn="just"/>
            <a:r>
              <a:rPr lang="en-US" sz="2000" dirty="0">
                <a:latin typeface="Times New Roman" panose="02020603050405020304" pitchFamily="18" charset="0"/>
                <a:cs typeface="Times New Roman" panose="02020603050405020304" pitchFamily="18" charset="0"/>
              </a:rPr>
              <a:t>preserve real heat patterns (thermal consistency)</a:t>
            </a:r>
          </a:p>
          <a:p>
            <a:pPr algn="just"/>
            <a:r>
              <a:rPr lang="en-US" sz="2000" dirty="0">
                <a:latin typeface="Times New Roman" panose="02020603050405020304" pitchFamily="18" charset="0"/>
                <a:cs typeface="Times New Roman" panose="02020603050405020304" pitchFamily="18" charset="0"/>
              </a:rPr>
              <a:t>avoid fake textures that can mislead analysis</a:t>
            </a:r>
          </a:p>
          <a:p>
            <a:pPr algn="just"/>
            <a:r>
              <a:rPr lang="en-US" sz="2000" dirty="0">
                <a:latin typeface="Times New Roman" panose="02020603050405020304" pitchFamily="18" charset="0"/>
                <a:cs typeface="Times New Roman" panose="02020603050405020304" pitchFamily="18" charset="0"/>
              </a:rPr>
              <a:t>Since optical (RGB) images are high-resolution and cheap, we expect to use RGB as a guidance source to recover:</a:t>
            </a:r>
          </a:p>
          <a:p>
            <a:pPr algn="just"/>
            <a:r>
              <a:rPr lang="en-US" sz="2000" dirty="0">
                <a:latin typeface="Times New Roman" panose="02020603050405020304" pitchFamily="18" charset="0"/>
                <a:cs typeface="Times New Roman" panose="02020603050405020304" pitchFamily="18" charset="0"/>
              </a:rPr>
              <a:t>Edges</a:t>
            </a:r>
          </a:p>
          <a:p>
            <a:pPr algn="just"/>
            <a:r>
              <a:rPr lang="en-US" sz="2000" dirty="0">
                <a:latin typeface="Times New Roman" panose="02020603050405020304" pitchFamily="18" charset="0"/>
                <a:cs typeface="Times New Roman" panose="02020603050405020304" pitchFamily="18" charset="0"/>
              </a:rPr>
              <a:t>object shapes</a:t>
            </a:r>
          </a:p>
          <a:p>
            <a:pPr algn="just"/>
            <a:r>
              <a:rPr lang="en-US" sz="2000" dirty="0">
                <a:latin typeface="Times New Roman" panose="02020603050405020304" pitchFamily="18" charset="0"/>
                <a:cs typeface="Times New Roman" panose="02020603050405020304" pitchFamily="18" charset="0"/>
              </a:rPr>
              <a:t>structural information</a:t>
            </a:r>
          </a:p>
          <a:p>
            <a:pPr marL="342900" lvl="0" indent="-190500" algn="just">
              <a:lnSpc>
                <a:spcPct val="200000"/>
              </a:lnSpc>
              <a:spcBef>
                <a:spcPts val="0"/>
              </a:spcBef>
              <a:buSzPct val="100000"/>
              <a:buNone/>
            </a:pPr>
            <a:endParaRPr sz="2000" b="1"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3388325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Times New Roman" panose="02020603050405020304" pitchFamily="18" charset="0"/>
                <a:ea typeface="Cambria" panose="02040503050406030204" pitchFamily="18" charset="0"/>
                <a:cs typeface="Times New Roman" panose="02020603050405020304" pitchFamily="18" charset="0"/>
              </a:rPr>
              <a:t>Analysis of Problem Statement (contd...)</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76200" indent="0" algn="just">
              <a:buNone/>
            </a:pPr>
            <a:r>
              <a:rPr lang="en-IN" sz="2000" b="1" dirty="0">
                <a:latin typeface="Times New Roman" panose="02020603050405020304" pitchFamily="18" charset="0"/>
                <a:cs typeface="Times New Roman" panose="02020603050405020304" pitchFamily="18" charset="0"/>
              </a:rPr>
              <a:t>Expected Outcome / Impact</a:t>
            </a:r>
          </a:p>
          <a:p>
            <a:pPr algn="just"/>
            <a:r>
              <a:rPr lang="en-US" sz="2000" dirty="0">
                <a:latin typeface="Times New Roman" panose="02020603050405020304" pitchFamily="18" charset="0"/>
                <a:cs typeface="Times New Roman" panose="02020603050405020304" pitchFamily="18" charset="0"/>
              </a:rPr>
              <a:t>A model/system that converts Low-Resolution Thermal → High-Resolution Thermal using optical guidance.</a:t>
            </a:r>
          </a:p>
          <a:p>
            <a:pPr algn="just"/>
            <a:r>
              <a:rPr lang="en-US" sz="2000" dirty="0">
                <a:latin typeface="Times New Roman" panose="02020603050405020304" pitchFamily="18" charset="0"/>
                <a:cs typeface="Times New Roman" panose="02020603050405020304" pitchFamily="18" charset="0"/>
              </a:rPr>
              <a:t>Final enhanced thermal images will be:</a:t>
            </a:r>
          </a:p>
          <a:p>
            <a:pPr algn="just"/>
            <a:r>
              <a:rPr lang="en-US" sz="2000" dirty="0">
                <a:latin typeface="Times New Roman" panose="02020603050405020304" pitchFamily="18" charset="0"/>
                <a:cs typeface="Times New Roman" panose="02020603050405020304" pitchFamily="18" charset="0"/>
              </a:rPr>
              <a:t>sharper and clearer</a:t>
            </a:r>
          </a:p>
          <a:p>
            <a:pPr algn="just"/>
            <a:r>
              <a:rPr lang="en-US" sz="2000" dirty="0">
                <a:latin typeface="Times New Roman" panose="02020603050405020304" pitchFamily="18" charset="0"/>
                <a:cs typeface="Times New Roman" panose="02020603050405020304" pitchFamily="18" charset="0"/>
              </a:rPr>
              <a:t>better object boundaries</a:t>
            </a:r>
          </a:p>
          <a:p>
            <a:pPr algn="just"/>
            <a:r>
              <a:rPr lang="en-US" sz="2000" dirty="0">
                <a:latin typeface="Times New Roman" panose="02020603050405020304" pitchFamily="18" charset="0"/>
                <a:cs typeface="Times New Roman" panose="02020603050405020304" pitchFamily="18" charset="0"/>
              </a:rPr>
              <a:t>more useful for detection and monitoring</a:t>
            </a:r>
          </a:p>
          <a:p>
            <a:pPr algn="just"/>
            <a:r>
              <a:rPr lang="en-US" sz="2000" dirty="0">
                <a:latin typeface="Times New Roman" panose="02020603050405020304" pitchFamily="18" charset="0"/>
                <a:cs typeface="Times New Roman" panose="02020603050405020304" pitchFamily="18" charset="0"/>
              </a:rPr>
              <a:t>This improves overall performance in applications like:</a:t>
            </a:r>
          </a:p>
          <a:p>
            <a:pPr algn="just"/>
            <a:r>
              <a:rPr lang="en-US" sz="2000" dirty="0">
                <a:latin typeface="Times New Roman" panose="02020603050405020304" pitchFamily="18" charset="0"/>
                <a:cs typeface="Times New Roman" panose="02020603050405020304" pitchFamily="18" charset="0"/>
              </a:rPr>
              <a:t>night security surveillance</a:t>
            </a:r>
          </a:p>
          <a:p>
            <a:pPr algn="just"/>
            <a:r>
              <a:rPr lang="en-US" sz="2000" dirty="0">
                <a:latin typeface="Times New Roman" panose="02020603050405020304" pitchFamily="18" charset="0"/>
                <a:cs typeface="Times New Roman" panose="02020603050405020304" pitchFamily="18" charset="0"/>
              </a:rPr>
              <a:t>rescue operations</a:t>
            </a:r>
          </a:p>
          <a:p>
            <a:pPr algn="just"/>
            <a:r>
              <a:rPr lang="en-US" sz="2000" dirty="0">
                <a:latin typeface="Times New Roman" panose="02020603050405020304" pitchFamily="18" charset="0"/>
                <a:cs typeface="Times New Roman" panose="02020603050405020304" pitchFamily="18" charset="0"/>
              </a:rPr>
              <a:t>defense monitoring</a:t>
            </a:r>
          </a:p>
          <a:p>
            <a:pPr algn="just"/>
            <a:r>
              <a:rPr lang="en-US" sz="2000" dirty="0">
                <a:latin typeface="Times New Roman" panose="02020603050405020304" pitchFamily="18" charset="0"/>
                <a:cs typeface="Times New Roman" panose="02020603050405020304" pitchFamily="18" charset="0"/>
              </a:rPr>
              <a:t>industrial inspection</a:t>
            </a:r>
          </a:p>
          <a:p>
            <a:pPr marL="76200" indent="0">
              <a:buNone/>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0004557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Times New Roman" panose="02020603050405020304" pitchFamily="18" charset="0"/>
                <a:ea typeface="Cambria" panose="02040503050406030204" pitchFamily="18" charset="0"/>
                <a:cs typeface="Times New Roman" panose="02020603050405020304" pitchFamily="18" charset="0"/>
              </a:rPr>
              <a:t>Github Link</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p:cNvSpPr txBox="1">
            <a:spLocks/>
          </p:cNvSpPr>
          <p:nvPr/>
        </p:nvSpPr>
        <p:spPr>
          <a:xfrm>
            <a:off x="558800" y="133985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r>
              <a:rPr lang="en-US" dirty="0">
                <a:latin typeface="Times New Roman" panose="02020603050405020304" pitchFamily="18" charset="0"/>
                <a:ea typeface="Cambria" panose="02040503050406030204" pitchFamily="18" charset="0"/>
                <a:cs typeface="Times New Roman" panose="02020603050405020304" pitchFamily="18" charset="0"/>
              </a:rPr>
              <a:t>The Github link provided should have public access permission.</a:t>
            </a:r>
          </a:p>
          <a:p>
            <a:pPr marL="342900" indent="-190500" algn="just">
              <a:spcBef>
                <a:spcPts val="0"/>
              </a:spcBef>
              <a:buSzPct val="100000"/>
              <a:buFont typeface="Arial"/>
              <a:buNone/>
            </a:pPr>
            <a:endParaRPr lang="en-US" dirty="0">
              <a:latin typeface="Times New Roman" panose="02020603050405020304" pitchFamily="18" charset="0"/>
              <a:ea typeface="Cambria" panose="02040503050406030204" pitchFamily="18" charset="0"/>
              <a:cs typeface="Times New Roman" panose="02020603050405020304" pitchFamily="18" charset="0"/>
            </a:endParaRPr>
          </a:p>
          <a:p>
            <a:pPr marL="342900" indent="-190500" algn="just">
              <a:spcBef>
                <a:spcPts val="0"/>
              </a:spcBef>
              <a:buSzPct val="100000"/>
              <a:buFont typeface="Arial"/>
              <a:buNone/>
            </a:pPr>
            <a:r>
              <a:rPr lang="en-US" dirty="0">
                <a:latin typeface="Times New Roman" panose="02020603050405020304" pitchFamily="18" charset="0"/>
                <a:ea typeface="Cambria" panose="02040503050406030204" pitchFamily="18" charset="0"/>
                <a:cs typeface="Times New Roman" panose="02020603050405020304" pitchFamily="18" charset="0"/>
                <a:hlinkClick r:id="rId3"/>
              </a:rPr>
              <a:t>Github </a:t>
            </a:r>
            <a:endParaRPr lang="en-US" dirty="0">
              <a:latin typeface="Times New Roman" panose="02020603050405020304" pitchFamily="18" charset="0"/>
              <a:ea typeface="Cambria" panose="02040503050406030204" pitchFamily="18" charset="0"/>
              <a:cs typeface="Times New Roman" panose="020206030504050203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563573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Times New Roman" panose="02020603050405020304" pitchFamily="18" charset="0"/>
                <a:ea typeface="Cambria" panose="02040503050406030204" pitchFamily="18" charset="0"/>
                <a:cs typeface="Times New Roman" panose="02020603050405020304" pitchFamily="18" charset="0"/>
              </a:rPr>
              <a:t>Timeline of the Project (Gantt Chart)</a:t>
            </a:r>
            <a:endParaRPr dirty="0">
              <a:latin typeface="Times New Roman" panose="02020603050405020304" pitchFamily="18" charset="0"/>
              <a:ea typeface="Cambria" panose="02040503050406030204" pitchFamily="18" charset="0"/>
              <a:cs typeface="Times New Roman" panose="02020603050405020304" pitchFamily="18" charset="0"/>
            </a:endParaRPr>
          </a:p>
        </p:txBody>
      </p:sp>
      <p:sp>
        <p:nvSpPr>
          <p:cNvPr id="9" name="AutoShape 14" descr="Output image">
            <a:extLst>
              <a:ext uri="{FF2B5EF4-FFF2-40B4-BE49-F238E27FC236}">
                <a16:creationId xmlns:a16="http://schemas.microsoft.com/office/drawing/2014/main" id="{8862907A-4622-5872-8E38-E5711ABCA30A}"/>
              </a:ext>
            </a:extLst>
          </p:cNvPr>
          <p:cNvSpPr>
            <a:spLocks noGrp="1" noChangeAspect="1" noChangeArrowheads="1"/>
          </p:cNvSpPr>
          <p:nvPr>
            <p:ph type="body" idx="1"/>
          </p:nvPr>
        </p:nvSpPr>
        <p:spPr bwMode="auto">
          <a:xfrm>
            <a:off x="615388" y="1302191"/>
            <a:ext cx="9443012" cy="474027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10" name="AutoShape 16" descr="Output image">
            <a:extLst>
              <a:ext uri="{FF2B5EF4-FFF2-40B4-BE49-F238E27FC236}">
                <a16:creationId xmlns:a16="http://schemas.microsoft.com/office/drawing/2014/main" id="{F9FFAD3D-3879-80CD-E06C-C73F64433EB1}"/>
              </a:ext>
            </a:extLst>
          </p:cNvPr>
          <p:cNvSpPr>
            <a:spLocks noChangeAspect="1" noChangeArrowheads="1"/>
          </p:cNvSpPr>
          <p:nvPr/>
        </p:nvSpPr>
        <p:spPr bwMode="auto">
          <a:xfrm>
            <a:off x="3032567" y="365567"/>
            <a:ext cx="3215833" cy="321583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5" name="Picture 4">
            <a:extLst>
              <a:ext uri="{FF2B5EF4-FFF2-40B4-BE49-F238E27FC236}">
                <a16:creationId xmlns:a16="http://schemas.microsoft.com/office/drawing/2014/main" id="{444F1ABB-EAB8-3C52-D492-3A9026FF9521}"/>
              </a:ext>
            </a:extLst>
          </p:cNvPr>
          <p:cNvPicPr>
            <a:picLocks noChangeAspect="1"/>
          </p:cNvPicPr>
          <p:nvPr/>
        </p:nvPicPr>
        <p:blipFill>
          <a:blip r:embed="rId3"/>
          <a:stretch>
            <a:fillRect/>
          </a:stretch>
        </p:blipFill>
        <p:spPr>
          <a:xfrm>
            <a:off x="0" y="816428"/>
            <a:ext cx="12192000" cy="5225143"/>
          </a:xfrm>
          <a:prstGeom prst="rect">
            <a:avLst/>
          </a:prstGeom>
        </p:spPr>
      </p:pic>
    </p:spTree>
    <p:extLst>
      <p:ext uri="{BB962C8B-B14F-4D97-AF65-F5344CB8AC3E}">
        <p14:creationId xmlns:p14="http://schemas.microsoft.com/office/powerpoint/2010/main" val="4798902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Times New Roman" panose="02020603050405020304" pitchFamily="18" charset="0"/>
                <a:ea typeface="Cambria" panose="02040503050406030204" pitchFamily="18" charset="0"/>
                <a:cs typeface="Times New Roman" panose="02020603050405020304" pitchFamily="18" charset="0"/>
              </a:rPr>
              <a:t>References (IEEE Paper format)</a:t>
            </a:r>
            <a:endParaRPr dirty="0">
              <a:latin typeface="Times New Roman" panose="02020603050405020304" pitchFamily="18" charset="0"/>
              <a:ea typeface="Cambria" panose="02040503050406030204" pitchFamily="18" charset="0"/>
              <a:cs typeface="Times New Roman" panose="02020603050405020304" pitchFamily="18" charset="0"/>
            </a:endParaRPr>
          </a:p>
        </p:txBody>
      </p:sp>
      <p:sp>
        <p:nvSpPr>
          <p:cNvPr id="145" name="Google Shape;145;p22"/>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fontScale="92500"/>
          </a:bodyPr>
          <a:lstStyle/>
          <a:p>
            <a:pPr marL="76200" indent="0" algn="just">
              <a:buNone/>
            </a:pPr>
            <a:r>
              <a:rPr lang="en-IN" sz="1800" dirty="0">
                <a:latin typeface="Times New Roman" panose="02020603050405020304" pitchFamily="18" charset="0"/>
                <a:cs typeface="Times New Roman" panose="02020603050405020304" pitchFamily="18" charset="0"/>
              </a:rPr>
              <a:t>[1] C. Dong, C. C. Loy, K. He, and X. Tang, “Image Super-Resolution Using Deep Convolutional Networks,” </a:t>
            </a:r>
            <a:r>
              <a:rPr lang="en-IN" sz="1800" i="1" dirty="0">
                <a:latin typeface="Times New Roman" panose="02020603050405020304" pitchFamily="18" charset="0"/>
                <a:cs typeface="Times New Roman" panose="02020603050405020304" pitchFamily="18" charset="0"/>
              </a:rPr>
              <a:t>IEEE Transactions on Pattern Analysis and Machine Intelligence</a:t>
            </a:r>
            <a:r>
              <a:rPr lang="en-IN" sz="1800" dirty="0">
                <a:latin typeface="Times New Roman" panose="02020603050405020304" pitchFamily="18" charset="0"/>
                <a:cs typeface="Times New Roman" panose="02020603050405020304" pitchFamily="18" charset="0"/>
              </a:rPr>
              <a:t>, vol. 38, no. 2, pp. 295–307, Feb. 2016.</a:t>
            </a:r>
          </a:p>
          <a:p>
            <a:pPr marL="76200" indent="0" algn="just">
              <a:buNone/>
            </a:pPr>
            <a:endParaRPr lang="en-IN" sz="1800" dirty="0">
              <a:latin typeface="Times New Roman" panose="02020603050405020304" pitchFamily="18" charset="0"/>
              <a:cs typeface="Times New Roman" panose="02020603050405020304" pitchFamily="18" charset="0"/>
            </a:endParaRPr>
          </a:p>
          <a:p>
            <a:pPr marL="76200" indent="0" algn="just">
              <a:buNone/>
            </a:pPr>
            <a:r>
              <a:rPr lang="en-IN" sz="1800" dirty="0">
                <a:latin typeface="Times New Roman" panose="02020603050405020304" pitchFamily="18" charset="0"/>
                <a:cs typeface="Times New Roman" panose="02020603050405020304" pitchFamily="18" charset="0"/>
              </a:rPr>
              <a:t>[2] B. Lim, S. Son, H. Kim, S. Nah, and K. M. Lee, “Enhanced Deep Residual Networks for Single Image Super-Resolution,” in </a:t>
            </a:r>
            <a:r>
              <a:rPr lang="en-IN" sz="1800" i="1" dirty="0">
                <a:latin typeface="Times New Roman" panose="02020603050405020304" pitchFamily="18" charset="0"/>
                <a:cs typeface="Times New Roman" panose="02020603050405020304" pitchFamily="18" charset="0"/>
              </a:rPr>
              <a:t>Proc. IEEE Conf. Computer Vision and Pattern Recognition Workshops (CVPRW)</a:t>
            </a:r>
            <a:r>
              <a:rPr lang="en-IN" sz="1800" dirty="0">
                <a:latin typeface="Times New Roman" panose="02020603050405020304" pitchFamily="18" charset="0"/>
                <a:cs typeface="Times New Roman" panose="02020603050405020304" pitchFamily="18" charset="0"/>
              </a:rPr>
              <a:t>, 2017, pp. 1132–1140.</a:t>
            </a:r>
          </a:p>
          <a:p>
            <a:pPr marL="76200" indent="0" algn="just">
              <a:buNone/>
            </a:pPr>
            <a:endParaRPr lang="en-IN" sz="1800" dirty="0">
              <a:latin typeface="Times New Roman" panose="02020603050405020304" pitchFamily="18" charset="0"/>
              <a:cs typeface="Times New Roman" panose="02020603050405020304" pitchFamily="18" charset="0"/>
            </a:endParaRPr>
          </a:p>
          <a:p>
            <a:pPr marL="76200" indent="0" algn="just">
              <a:buNone/>
            </a:pPr>
            <a:r>
              <a:rPr lang="en-IN" sz="1800" dirty="0">
                <a:latin typeface="Times New Roman" panose="02020603050405020304" pitchFamily="18" charset="0"/>
                <a:cs typeface="Times New Roman" panose="02020603050405020304" pitchFamily="18" charset="0"/>
              </a:rPr>
              <a:t>[3] X. Wang, K. Yu, S. Wu, J. Gu, Y. Liu, C. Dong, Y. Qiao, and C. C. Loy, “ESRGAN: Enhanced Super-Resolution Generative Adversarial Networks,” in </a:t>
            </a:r>
            <a:r>
              <a:rPr lang="en-IN" sz="1800" i="1" dirty="0">
                <a:latin typeface="Times New Roman" panose="02020603050405020304" pitchFamily="18" charset="0"/>
                <a:cs typeface="Times New Roman" panose="02020603050405020304" pitchFamily="18" charset="0"/>
              </a:rPr>
              <a:t>Proc. European Conf. Computer Vision (ECCV) Workshops</a:t>
            </a:r>
            <a:r>
              <a:rPr lang="en-IN" sz="1800" dirty="0">
                <a:latin typeface="Times New Roman" panose="02020603050405020304" pitchFamily="18" charset="0"/>
                <a:cs typeface="Times New Roman" panose="02020603050405020304" pitchFamily="18" charset="0"/>
              </a:rPr>
              <a:t>, 2018.</a:t>
            </a:r>
          </a:p>
          <a:p>
            <a:pPr marL="76200" indent="0" algn="just">
              <a:buNone/>
            </a:pPr>
            <a:endParaRPr lang="en-IN" sz="1800" dirty="0">
              <a:latin typeface="Times New Roman" panose="02020603050405020304" pitchFamily="18" charset="0"/>
              <a:cs typeface="Times New Roman" panose="02020603050405020304" pitchFamily="18" charset="0"/>
            </a:endParaRPr>
          </a:p>
          <a:p>
            <a:pPr marL="76200" indent="0" algn="just">
              <a:buNone/>
            </a:pPr>
            <a:r>
              <a:rPr lang="en-IN" sz="1800" dirty="0">
                <a:latin typeface="Times New Roman" panose="02020603050405020304" pitchFamily="18" charset="0"/>
                <a:cs typeface="Times New Roman" panose="02020603050405020304" pitchFamily="18" charset="0"/>
              </a:rPr>
              <a:t>[4] W. Shi, J. Caballero, F. Huszár, J. Totz, A. P. Aitken, R. Bishop, D. Rueckert, and Z. Wang, “Real-Time Single Image and Video Super-Resolution Using an Efficient Sub-Pixel Convolutional Neural Network,” in </a:t>
            </a:r>
            <a:r>
              <a:rPr lang="en-IN" sz="1800" i="1" dirty="0">
                <a:latin typeface="Times New Roman" panose="02020603050405020304" pitchFamily="18" charset="0"/>
                <a:cs typeface="Times New Roman" panose="02020603050405020304" pitchFamily="18" charset="0"/>
              </a:rPr>
              <a:t>Proc. IEEE Conf. Computer Vision and Pattern Recognition (CVPR)</a:t>
            </a:r>
            <a:r>
              <a:rPr lang="en-IN" sz="1800" dirty="0">
                <a:latin typeface="Times New Roman" panose="02020603050405020304" pitchFamily="18" charset="0"/>
                <a:cs typeface="Times New Roman" panose="02020603050405020304" pitchFamily="18" charset="0"/>
              </a:rPr>
              <a:t>, 2016, pp. 1874–1883.</a:t>
            </a:r>
          </a:p>
          <a:p>
            <a:pPr marL="76200" indent="0" algn="just">
              <a:buNone/>
            </a:pPr>
            <a:endParaRPr lang="en-IN" sz="1800" dirty="0">
              <a:latin typeface="Times New Roman" panose="02020603050405020304" pitchFamily="18" charset="0"/>
              <a:cs typeface="Times New Roman" panose="02020603050405020304" pitchFamily="18" charset="0"/>
            </a:endParaRPr>
          </a:p>
          <a:p>
            <a:pPr marL="76200" indent="0" algn="just">
              <a:buNone/>
            </a:pPr>
            <a:r>
              <a:rPr lang="en-IN" sz="1800" dirty="0">
                <a:latin typeface="Times New Roman" panose="02020603050405020304" pitchFamily="18" charset="0"/>
                <a:cs typeface="Times New Roman" panose="02020603050405020304" pitchFamily="18" charset="0"/>
              </a:rPr>
              <a:t>[5] S. Hwang, J. Park, N. Kim, Y. Choi, and I. S. Kweon, “Multispectral Pedestrian Detection: Benchmark Dataset and Baseline,” in </a:t>
            </a:r>
            <a:r>
              <a:rPr lang="en-IN" sz="1800" i="1" dirty="0">
                <a:latin typeface="Times New Roman" panose="02020603050405020304" pitchFamily="18" charset="0"/>
                <a:cs typeface="Times New Roman" panose="02020603050405020304" pitchFamily="18" charset="0"/>
              </a:rPr>
              <a:t>Proc. IEEE Conf. Computer Vision and Pattern Recognition (CVPR)</a:t>
            </a:r>
            <a:r>
              <a:rPr lang="en-IN" sz="1800" dirty="0">
                <a:latin typeface="Times New Roman" panose="02020603050405020304" pitchFamily="18" charset="0"/>
                <a:cs typeface="Times New Roman" panose="02020603050405020304" pitchFamily="18" charset="0"/>
              </a:rPr>
              <a:t>, 2015, pp. 1037–1045.</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1698</TotalTime>
  <Words>916</Words>
  <Application>Microsoft Office PowerPoint</Application>
  <PresentationFormat>Widescreen</PresentationFormat>
  <Paragraphs>111</Paragraphs>
  <Slides>12</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Cambria</vt:lpstr>
      <vt:lpstr>Times New Roman</vt:lpstr>
      <vt:lpstr>Verdana</vt:lpstr>
      <vt:lpstr>Wingdings</vt:lpstr>
      <vt:lpstr>Bioinformatics</vt:lpstr>
      <vt:lpstr>Optical-Guided Super-Resolution for Thermal IR Imagery</vt:lpstr>
      <vt:lpstr>Problem Statement Number: 166 (SIH25171) </vt:lpstr>
      <vt:lpstr>Content</vt:lpstr>
      <vt:lpstr>Objectives</vt:lpstr>
      <vt:lpstr>Background and Related work</vt:lpstr>
      <vt:lpstr>Analysis of Problem Statement</vt:lpstr>
      <vt:lpstr>Analysis of Problem Statement (contd...)</vt:lpstr>
      <vt:lpstr>Analysis of Problem Statement (contd...)</vt:lpstr>
      <vt:lpstr>Github Link</vt:lpstr>
      <vt:lpstr>Timeline of the Project (Gantt Chart)</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Saisree Chunchu</cp:lastModifiedBy>
  <cp:revision>46</cp:revision>
  <dcterms:modified xsi:type="dcterms:W3CDTF">2026-01-20T13:15:34Z</dcterms:modified>
</cp:coreProperties>
</file>